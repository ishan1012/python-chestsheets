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70" r:id="rId4"/>
    <p:sldId id="258" r:id="rId5"/>
    <p:sldId id="259" r:id="rId6"/>
    <p:sldId id="260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599C9B-907D-4B76-A9C6-195FDD1AA84E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29AB8C-129B-4795-AC8D-0CAA9560D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398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29AB8C-129B-4795-AC8D-0CAA9560D23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616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22B4A-DA75-4149-BC07-872E7D418028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13DEF-3250-4AC3-9A0F-9415B4068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988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22B4A-DA75-4149-BC07-872E7D418028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13DEF-3250-4AC3-9A0F-9415B4068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300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22B4A-DA75-4149-BC07-872E7D418028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13DEF-3250-4AC3-9A0F-9415B4068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484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22B4A-DA75-4149-BC07-872E7D418028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13DEF-3250-4AC3-9A0F-9415B4068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657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22B4A-DA75-4149-BC07-872E7D418028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13DEF-3250-4AC3-9A0F-9415B4068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977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22B4A-DA75-4149-BC07-872E7D418028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13DEF-3250-4AC3-9A0F-9415B4068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758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22B4A-DA75-4149-BC07-872E7D418028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13DEF-3250-4AC3-9A0F-9415B4068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804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22B4A-DA75-4149-BC07-872E7D418028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13DEF-3250-4AC3-9A0F-9415B4068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954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22B4A-DA75-4149-BC07-872E7D418028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13DEF-3250-4AC3-9A0F-9415B4068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4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22B4A-DA75-4149-BC07-872E7D418028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13DEF-3250-4AC3-9A0F-9415B4068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285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22B4A-DA75-4149-BC07-872E7D418028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13DEF-3250-4AC3-9A0F-9415B4068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559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C22B4A-DA75-4149-BC07-872E7D418028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A13DEF-3250-4AC3-9A0F-9415B4068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640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TT-Python-501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Encoding the data: Definition, Methods: </a:t>
            </a:r>
            <a:r>
              <a:rPr lang="en-US" dirty="0" smtClean="0"/>
              <a:t>One-Hot </a:t>
            </a:r>
            <a:r>
              <a:rPr lang="en-US" dirty="0"/>
              <a:t>Encoding, Label Encoding, Target Guided Ordinal Encoding</a:t>
            </a:r>
          </a:p>
        </p:txBody>
      </p:sp>
    </p:spTree>
    <p:extLst>
      <p:ext uri="{BB962C8B-B14F-4D97-AF65-F5344CB8AC3E}">
        <p14:creationId xmlns:p14="http://schemas.microsoft.com/office/powerpoint/2010/main" val="668287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Encoding </a:t>
            </a:r>
            <a:r>
              <a:rPr lang="en-US" b="1" dirty="0"/>
              <a:t>D</a:t>
            </a:r>
            <a:r>
              <a:rPr lang="en-US" b="1" dirty="0" smtClean="0"/>
              <a:t>ata </a:t>
            </a:r>
            <a:r>
              <a:rPr lang="en-US" b="1" dirty="0"/>
              <a:t>in Machine Learning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dirty="0"/>
              <a:t>In machine learning, </a:t>
            </a:r>
            <a:r>
              <a:rPr lang="en-US" b="1" dirty="0"/>
              <a:t>encoding</a:t>
            </a:r>
            <a:r>
              <a:rPr lang="en-US" dirty="0"/>
              <a:t> means </a:t>
            </a:r>
            <a:r>
              <a:rPr lang="en-US" b="1" dirty="0"/>
              <a:t>converting categorical (non-numeric) data into numeric form</a:t>
            </a:r>
            <a:r>
              <a:rPr lang="en-US" dirty="0"/>
              <a:t> so that algorithms can process it.</a:t>
            </a:r>
            <a:br>
              <a:rPr lang="en-US" dirty="0"/>
            </a:br>
            <a:endParaRPr lang="en-US" dirty="0" smtClean="0"/>
          </a:p>
          <a:p>
            <a:pPr marL="0" lvl="0" indent="0">
              <a:buNone/>
            </a:pPr>
            <a:r>
              <a:rPr lang="en-US" dirty="0" smtClean="0"/>
              <a:t>Most </a:t>
            </a:r>
            <a:r>
              <a:rPr lang="en-US" dirty="0"/>
              <a:t>ML models (like Linear Regression, SVM, etc.) work only with </a:t>
            </a:r>
            <a:r>
              <a:rPr lang="en-US" b="1" dirty="0"/>
              <a:t>numerical data</a:t>
            </a:r>
            <a:r>
              <a:rPr lang="en-US" dirty="0"/>
              <a:t>, so encoding transforms </a:t>
            </a:r>
            <a:r>
              <a:rPr lang="en-US" b="1" dirty="0"/>
              <a:t>text or category labels</a:t>
            </a:r>
            <a:r>
              <a:rPr lang="en-US" dirty="0"/>
              <a:t> into numbers without losing important information.</a:t>
            </a:r>
          </a:p>
        </p:txBody>
      </p:sp>
    </p:spTree>
    <p:extLst>
      <p:ext uri="{BB962C8B-B14F-4D97-AF65-F5344CB8AC3E}">
        <p14:creationId xmlns:p14="http://schemas.microsoft.com/office/powerpoint/2010/main" val="1996353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Example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3576932"/>
              </p:ext>
            </p:extLst>
          </p:nvPr>
        </p:nvGraphicFramePr>
        <p:xfrm>
          <a:off x="2362200" y="1981200"/>
          <a:ext cx="4267200" cy="2792649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1905000"/>
                <a:gridCol w="2362200"/>
              </a:tblGrid>
              <a:tr h="710525">
                <a:tc>
                  <a:txBody>
                    <a:bodyPr/>
                    <a:lstStyle/>
                    <a:p>
                      <a:r>
                        <a:rPr lang="en-US" b="1" dirty="0"/>
                        <a:t>Country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Encoded Value</a:t>
                      </a:r>
                    </a:p>
                  </a:txBody>
                  <a:tcPr anchor="ctr"/>
                </a:tc>
              </a:tr>
              <a:tr h="661074">
                <a:tc>
                  <a:txBody>
                    <a:bodyPr/>
                    <a:lstStyle/>
                    <a:p>
                      <a:r>
                        <a:rPr lang="en-US" dirty="0"/>
                        <a:t>India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 anchor="ctr"/>
                </a:tc>
              </a:tr>
              <a:tr h="710525">
                <a:tc>
                  <a:txBody>
                    <a:bodyPr/>
                    <a:lstStyle/>
                    <a:p>
                      <a:r>
                        <a:rPr lang="en-US" dirty="0"/>
                        <a:t>USA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/>
                </a:tc>
              </a:tr>
              <a:tr h="710525">
                <a:tc>
                  <a:txBody>
                    <a:bodyPr/>
                    <a:lstStyle/>
                    <a:p>
                      <a:r>
                        <a:rPr lang="en-US"/>
                        <a:t>UK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1003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Encoding is Needed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Machine learning models require </a:t>
            </a:r>
            <a:r>
              <a:rPr lang="en-US" sz="2800" b="1" dirty="0"/>
              <a:t>numerical input</a:t>
            </a:r>
            <a:r>
              <a:rPr lang="en-US" sz="2800" dirty="0"/>
              <a:t>.</a:t>
            </a:r>
          </a:p>
          <a:p>
            <a:r>
              <a:rPr lang="en-US" sz="2800" dirty="0"/>
              <a:t>Encoders help in </a:t>
            </a:r>
            <a:r>
              <a:rPr lang="en-US" sz="2800" b="1" dirty="0"/>
              <a:t>preserving relationships</a:t>
            </a:r>
            <a:r>
              <a:rPr lang="en-US" sz="2800" dirty="0"/>
              <a:t> among categorical variables.</a:t>
            </a:r>
          </a:p>
          <a:p>
            <a:r>
              <a:rPr lang="en-US" sz="2800" dirty="0"/>
              <a:t>Ensures </a:t>
            </a:r>
            <a:r>
              <a:rPr lang="en-US" sz="2800" b="1" dirty="0"/>
              <a:t>better accuracy</a:t>
            </a:r>
            <a:r>
              <a:rPr lang="en-US" sz="2800" dirty="0"/>
              <a:t> and </a:t>
            </a:r>
            <a:r>
              <a:rPr lang="en-US" sz="2800" b="1" dirty="0"/>
              <a:t>faster model training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61477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Data Requiring Encoding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Nominal Data:</a:t>
            </a:r>
            <a:r>
              <a:rPr lang="en-US" dirty="0"/>
              <a:t> Categories without order (e.g., colors: Red, Blue, Green)</a:t>
            </a:r>
          </a:p>
          <a:p>
            <a:r>
              <a:rPr lang="en-US" b="1" dirty="0"/>
              <a:t>Ordinal Data:</a:t>
            </a:r>
            <a:r>
              <a:rPr lang="en-US" dirty="0"/>
              <a:t> Categories with order (e.g., Low &lt; Medium &lt; High)</a:t>
            </a:r>
          </a:p>
        </p:txBody>
      </p:sp>
    </p:spTree>
    <p:extLst>
      <p:ext uri="{BB962C8B-B14F-4D97-AF65-F5344CB8AC3E}">
        <p14:creationId xmlns:p14="http://schemas.microsoft.com/office/powerpoint/2010/main" val="441522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Methods of Data Encoding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A. Label Encoding</a:t>
            </a:r>
          </a:p>
          <a:p>
            <a:r>
              <a:rPr lang="en-US" sz="2800" dirty="0"/>
              <a:t>Converts each category into a unique integer value.</a:t>
            </a:r>
          </a:p>
          <a:p>
            <a:r>
              <a:rPr lang="en-US" sz="2800" dirty="0"/>
              <a:t>Useful for </a:t>
            </a:r>
            <a:r>
              <a:rPr lang="en-US" sz="2800" b="1" dirty="0"/>
              <a:t>ordinal data</a:t>
            </a:r>
            <a:r>
              <a:rPr lang="en-US" sz="2800" dirty="0" smtClean="0"/>
              <a:t>.</a:t>
            </a:r>
          </a:p>
          <a:p>
            <a:r>
              <a:rPr lang="en-US" sz="2800" b="1" dirty="0" smtClean="0"/>
              <a:t>Example:</a:t>
            </a:r>
          </a:p>
          <a:p>
            <a:endParaRPr lang="en-US" sz="28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1104626"/>
              </p:ext>
            </p:extLst>
          </p:nvPr>
        </p:nvGraphicFramePr>
        <p:xfrm>
          <a:off x="838200" y="4038600"/>
          <a:ext cx="5029200" cy="146304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209800"/>
                <a:gridCol w="2819400"/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Label Encoded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Small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Large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9438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Methods of Data Encoding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Label Encoding </a:t>
            </a:r>
            <a:r>
              <a:rPr lang="en-US" b="1" dirty="0" smtClean="0"/>
              <a:t>in Python:</a:t>
            </a:r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sz="2200" dirty="0"/>
              <a:t>from </a:t>
            </a:r>
            <a:r>
              <a:rPr lang="en-US" sz="2200" dirty="0" err="1"/>
              <a:t>sklearn.preprocessing</a:t>
            </a:r>
            <a:r>
              <a:rPr lang="en-US" sz="2200" dirty="0"/>
              <a:t> import </a:t>
            </a:r>
            <a:r>
              <a:rPr lang="en-US" sz="2200" dirty="0" err="1"/>
              <a:t>LabelEncoder</a:t>
            </a:r>
            <a:endParaRPr lang="en-US" sz="2200" dirty="0"/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/>
              <a:t>encoder = </a:t>
            </a:r>
            <a:r>
              <a:rPr lang="en-US" sz="2200" dirty="0" err="1"/>
              <a:t>LabelEncoder</a:t>
            </a:r>
            <a:r>
              <a:rPr lang="en-US" sz="2200" dirty="0"/>
              <a:t>()</a:t>
            </a:r>
          </a:p>
          <a:p>
            <a:pPr marL="0" indent="0">
              <a:buNone/>
            </a:pPr>
            <a:r>
              <a:rPr lang="en-US" sz="2200" dirty="0"/>
              <a:t>data = ['Small', 'Medium', 'Large']</a:t>
            </a:r>
          </a:p>
          <a:p>
            <a:pPr marL="0" indent="0">
              <a:buNone/>
            </a:pPr>
            <a:r>
              <a:rPr lang="en-US" sz="2200" dirty="0"/>
              <a:t>encoded = </a:t>
            </a:r>
            <a:r>
              <a:rPr lang="en-US" sz="2200" dirty="0" err="1"/>
              <a:t>encoder.fit_transform</a:t>
            </a:r>
            <a:r>
              <a:rPr lang="en-US" sz="2200" dirty="0"/>
              <a:t>(data)</a:t>
            </a:r>
          </a:p>
          <a:p>
            <a:pPr marL="0" indent="0">
              <a:buNone/>
            </a:pPr>
            <a:r>
              <a:rPr lang="en-US" sz="2200" dirty="0"/>
              <a:t>print(encoded)</a:t>
            </a:r>
          </a:p>
          <a:p>
            <a:pPr marL="0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315307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Methods of Data Encoding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B</a:t>
            </a:r>
            <a:r>
              <a:rPr lang="en-US" b="1" dirty="0" smtClean="0"/>
              <a:t>. </a:t>
            </a:r>
            <a:r>
              <a:rPr lang="en-US" b="1" dirty="0"/>
              <a:t>One-Hot Encoding</a:t>
            </a:r>
          </a:p>
          <a:p>
            <a:r>
              <a:rPr lang="en-US" sz="2800" dirty="0"/>
              <a:t>Creates </a:t>
            </a:r>
            <a:r>
              <a:rPr lang="en-US" sz="2800" b="1" dirty="0"/>
              <a:t>binary columns (0/1)</a:t>
            </a:r>
            <a:r>
              <a:rPr lang="en-US" sz="2800" dirty="0"/>
              <a:t> for each category.</a:t>
            </a:r>
          </a:p>
          <a:p>
            <a:r>
              <a:rPr lang="en-US" sz="2800" dirty="0"/>
              <a:t>Useful for </a:t>
            </a:r>
            <a:r>
              <a:rPr lang="en-US" sz="2800" b="1" dirty="0"/>
              <a:t>nominal data</a:t>
            </a:r>
            <a:r>
              <a:rPr lang="en-US" sz="2800" dirty="0"/>
              <a:t> where categories have no order.</a:t>
            </a:r>
          </a:p>
          <a:p>
            <a:r>
              <a:rPr lang="en-US" sz="2800" b="1" dirty="0" smtClean="0"/>
              <a:t>Example:</a:t>
            </a:r>
          </a:p>
          <a:p>
            <a:endParaRPr lang="en-US" sz="2800" b="1" dirty="0" smtClean="0"/>
          </a:p>
          <a:p>
            <a:endParaRPr lang="en-US" sz="28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4826787"/>
              </p:ext>
            </p:extLst>
          </p:nvPr>
        </p:nvGraphicFramePr>
        <p:xfrm>
          <a:off x="838200" y="4404360"/>
          <a:ext cx="5638800" cy="146304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1371600"/>
                <a:gridCol w="1447800"/>
                <a:gridCol w="1371600"/>
                <a:gridCol w="1447800"/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Color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Green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Blue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Green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764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Methods of Data Encoding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One-Hot Encoding </a:t>
            </a:r>
            <a:r>
              <a:rPr lang="en-US" b="1" dirty="0" smtClean="0"/>
              <a:t>in Python:</a:t>
            </a:r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sz="2200" dirty="0"/>
              <a:t>from </a:t>
            </a:r>
            <a:r>
              <a:rPr lang="en-US" sz="2200" dirty="0" err="1"/>
              <a:t>sklearn.preprocessing</a:t>
            </a:r>
            <a:r>
              <a:rPr lang="en-US" sz="2200" dirty="0"/>
              <a:t> import </a:t>
            </a:r>
            <a:r>
              <a:rPr lang="en-US" sz="2200" dirty="0" err="1"/>
              <a:t>OneHotEncoder</a:t>
            </a:r>
            <a:endParaRPr lang="en-US" sz="2200" dirty="0"/>
          </a:p>
          <a:p>
            <a:pPr marL="0" indent="0">
              <a:buNone/>
            </a:pPr>
            <a:r>
              <a:rPr lang="en-US" sz="2200" dirty="0"/>
              <a:t>import pandas as </a:t>
            </a:r>
            <a:r>
              <a:rPr lang="en-US" sz="2200" dirty="0" err="1"/>
              <a:t>pd</a:t>
            </a:r>
            <a:endParaRPr lang="en-US" sz="2200" dirty="0"/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 err="1"/>
              <a:t>df</a:t>
            </a:r>
            <a:r>
              <a:rPr lang="en-US" sz="2200" dirty="0"/>
              <a:t> = </a:t>
            </a:r>
            <a:r>
              <a:rPr lang="en-US" sz="2200" dirty="0" err="1"/>
              <a:t>pd.DataFrame</a:t>
            </a:r>
            <a:r>
              <a:rPr lang="en-US" sz="2200" dirty="0"/>
              <a:t>({'Color': ['Red', 'Blue', 'Green']})</a:t>
            </a:r>
          </a:p>
          <a:p>
            <a:pPr marL="0" indent="0">
              <a:buNone/>
            </a:pPr>
            <a:r>
              <a:rPr lang="en-US" sz="2200" dirty="0"/>
              <a:t>encoder = </a:t>
            </a:r>
            <a:r>
              <a:rPr lang="en-US" sz="2200" dirty="0" err="1"/>
              <a:t>OneHotEncoder</a:t>
            </a:r>
            <a:r>
              <a:rPr lang="en-US" sz="2200" dirty="0"/>
              <a:t>(</a:t>
            </a:r>
            <a:r>
              <a:rPr lang="en-US" sz="2200" dirty="0" err="1"/>
              <a:t>sparse_output</a:t>
            </a:r>
            <a:r>
              <a:rPr lang="en-US" sz="2200" dirty="0"/>
              <a:t>=False)</a:t>
            </a:r>
          </a:p>
          <a:p>
            <a:pPr marL="0" indent="0">
              <a:buNone/>
            </a:pPr>
            <a:r>
              <a:rPr lang="en-US" sz="2200" dirty="0"/>
              <a:t>encoded = </a:t>
            </a:r>
            <a:r>
              <a:rPr lang="en-US" sz="2200" dirty="0" err="1"/>
              <a:t>encoder.fit_transform</a:t>
            </a:r>
            <a:r>
              <a:rPr lang="en-US" sz="2200" dirty="0"/>
              <a:t>(</a:t>
            </a:r>
            <a:r>
              <a:rPr lang="en-US" sz="2200" dirty="0" err="1"/>
              <a:t>df</a:t>
            </a:r>
            <a:r>
              <a:rPr lang="en-US" sz="2200" dirty="0"/>
              <a:t>[['Color']])</a:t>
            </a:r>
          </a:p>
          <a:p>
            <a:pPr marL="0" indent="0">
              <a:buNone/>
            </a:pPr>
            <a:r>
              <a:rPr lang="en-US" sz="2200" dirty="0"/>
              <a:t>print(encoded)</a:t>
            </a:r>
          </a:p>
          <a:p>
            <a:pPr marL="0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5806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Methods of Data Encoding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C. Ordinal </a:t>
            </a:r>
            <a:r>
              <a:rPr lang="en-US" b="1" dirty="0"/>
              <a:t>Encoding</a:t>
            </a:r>
          </a:p>
          <a:p>
            <a:r>
              <a:rPr lang="en-US" sz="2800" dirty="0"/>
              <a:t>Assigns integers to categories </a:t>
            </a:r>
            <a:r>
              <a:rPr lang="en-US" sz="2800" b="1" dirty="0"/>
              <a:t>based on order</a:t>
            </a:r>
            <a:r>
              <a:rPr lang="en-US" sz="2800" dirty="0"/>
              <a:t>.</a:t>
            </a:r>
          </a:p>
          <a:p>
            <a:r>
              <a:rPr lang="en-US" sz="2800" dirty="0"/>
              <a:t>Suitable for </a:t>
            </a:r>
            <a:r>
              <a:rPr lang="en-US" sz="2800" b="1" dirty="0"/>
              <a:t>ordinal data</a:t>
            </a:r>
            <a:r>
              <a:rPr lang="en-US" sz="2800" dirty="0"/>
              <a:t> like ratings or levels.</a:t>
            </a:r>
          </a:p>
          <a:p>
            <a:r>
              <a:rPr lang="en-US" sz="2800" b="1" dirty="0" smtClean="0"/>
              <a:t>Example:</a:t>
            </a:r>
          </a:p>
          <a:p>
            <a:endParaRPr lang="en-US" sz="2800" b="1" dirty="0" smtClean="0"/>
          </a:p>
          <a:p>
            <a:endParaRPr lang="en-US" sz="28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0271117"/>
              </p:ext>
            </p:extLst>
          </p:nvPr>
        </p:nvGraphicFramePr>
        <p:xfrm>
          <a:off x="914400" y="4038600"/>
          <a:ext cx="4038600" cy="146304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1905000"/>
                <a:gridCol w="2133600"/>
              </a:tblGrid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Rating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Encoded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Poor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Average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Good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1677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Methods of Data Encoding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Ordinal </a:t>
            </a:r>
            <a:r>
              <a:rPr lang="en-US" b="1" dirty="0"/>
              <a:t>Encoding </a:t>
            </a:r>
            <a:r>
              <a:rPr lang="en-US" b="1" dirty="0" smtClean="0"/>
              <a:t>in Python:</a:t>
            </a:r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sz="2200" dirty="0"/>
              <a:t>from </a:t>
            </a:r>
            <a:r>
              <a:rPr lang="en-US" sz="2200" dirty="0" err="1"/>
              <a:t>sklearn.preprocessing</a:t>
            </a:r>
            <a:r>
              <a:rPr lang="en-US" sz="2200" dirty="0"/>
              <a:t> import </a:t>
            </a:r>
            <a:r>
              <a:rPr lang="en-US" sz="2200" dirty="0" err="1"/>
              <a:t>OrdinalEncoder</a:t>
            </a:r>
            <a:endParaRPr lang="en-US" sz="2200" dirty="0"/>
          </a:p>
          <a:p>
            <a:pPr marL="0" indent="0">
              <a:buNone/>
            </a:pPr>
            <a:r>
              <a:rPr lang="en-US" sz="2200" dirty="0"/>
              <a:t>import pandas as </a:t>
            </a:r>
            <a:r>
              <a:rPr lang="en-US" sz="2200" dirty="0" err="1"/>
              <a:t>pd</a:t>
            </a:r>
            <a:endParaRPr lang="en-US" sz="2200" dirty="0"/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 err="1"/>
              <a:t>df</a:t>
            </a:r>
            <a:r>
              <a:rPr lang="en-US" sz="2200" dirty="0"/>
              <a:t> = </a:t>
            </a:r>
            <a:r>
              <a:rPr lang="en-US" sz="2200" dirty="0" err="1"/>
              <a:t>pd.DataFrame</a:t>
            </a:r>
            <a:r>
              <a:rPr lang="en-US" sz="2200" dirty="0"/>
              <a:t>({'Rating': ['Poor', 'Average', 'Good']})</a:t>
            </a:r>
          </a:p>
          <a:p>
            <a:pPr marL="0" indent="0">
              <a:buNone/>
            </a:pPr>
            <a:r>
              <a:rPr lang="en-US" sz="2200" dirty="0"/>
              <a:t>encoder = </a:t>
            </a:r>
            <a:r>
              <a:rPr lang="en-US" sz="2200" dirty="0" err="1"/>
              <a:t>OrdinalEncoder</a:t>
            </a:r>
            <a:r>
              <a:rPr lang="en-US" sz="2200" dirty="0"/>
              <a:t>(categories=[['Poor', 'Average', 'Good']])</a:t>
            </a:r>
          </a:p>
          <a:p>
            <a:pPr marL="0" indent="0">
              <a:buNone/>
            </a:pPr>
            <a:r>
              <a:rPr lang="en-US" sz="2200" dirty="0"/>
              <a:t>encoded = </a:t>
            </a:r>
            <a:r>
              <a:rPr lang="en-US" sz="2200" dirty="0" err="1"/>
              <a:t>encoder.fit_transform</a:t>
            </a:r>
            <a:r>
              <a:rPr lang="en-US" sz="2200" dirty="0"/>
              <a:t>(</a:t>
            </a:r>
            <a:r>
              <a:rPr lang="en-US" sz="2200" dirty="0" err="1"/>
              <a:t>df</a:t>
            </a:r>
            <a:r>
              <a:rPr lang="en-US" sz="2200" dirty="0"/>
              <a:t>)</a:t>
            </a:r>
          </a:p>
          <a:p>
            <a:pPr marL="0" indent="0">
              <a:buNone/>
            </a:pPr>
            <a:r>
              <a:rPr lang="en-US" sz="2200" dirty="0"/>
              <a:t>print(encoded)</a:t>
            </a:r>
          </a:p>
          <a:p>
            <a:pPr marL="0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981994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Methods of Data Encoding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</a:t>
            </a:r>
            <a:r>
              <a:rPr lang="en-US" b="1" dirty="0" smtClean="0"/>
              <a:t>. Binary Encoding</a:t>
            </a:r>
            <a:endParaRPr lang="en-US" b="1" dirty="0"/>
          </a:p>
          <a:p>
            <a:r>
              <a:rPr lang="en-US" sz="2800" dirty="0"/>
              <a:t>Converts categories into </a:t>
            </a:r>
            <a:r>
              <a:rPr lang="en-US" sz="2800" b="1" dirty="0"/>
              <a:t>binary digits</a:t>
            </a:r>
            <a:r>
              <a:rPr lang="en-US" sz="2800" dirty="0"/>
              <a:t> and splits into columns.</a:t>
            </a:r>
          </a:p>
          <a:p>
            <a:r>
              <a:rPr lang="en-US" sz="2800" dirty="0"/>
              <a:t>More efficient than One-Hot Encoding for large categories.</a:t>
            </a:r>
          </a:p>
          <a:p>
            <a:r>
              <a:rPr lang="en-US" sz="2800" b="1" dirty="0" smtClean="0"/>
              <a:t>Example:</a:t>
            </a:r>
          </a:p>
          <a:p>
            <a:pPr marL="0" indent="0">
              <a:buNone/>
            </a:pPr>
            <a:r>
              <a:rPr lang="en-US" sz="2800" dirty="0"/>
              <a:t>For categories: A=00, B=01, C=10, D=11</a:t>
            </a:r>
            <a:endParaRPr lang="en-US" sz="2800" b="1" dirty="0" smtClean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15708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Methods of Data Encoding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Binary Encoding in Python:</a:t>
            </a:r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sz="2200" dirty="0"/>
              <a:t>!pip install </a:t>
            </a:r>
            <a:r>
              <a:rPr lang="en-US" sz="2200" dirty="0" err="1"/>
              <a:t>category_encoders</a:t>
            </a:r>
            <a:endParaRPr lang="en-US" sz="2200" dirty="0"/>
          </a:p>
          <a:p>
            <a:pPr marL="0" indent="0">
              <a:buNone/>
            </a:pPr>
            <a:r>
              <a:rPr lang="en-US" sz="2200" dirty="0"/>
              <a:t>import </a:t>
            </a:r>
            <a:r>
              <a:rPr lang="en-US" sz="2200" dirty="0" err="1"/>
              <a:t>category_encoders</a:t>
            </a:r>
            <a:r>
              <a:rPr lang="en-US" sz="2200" dirty="0"/>
              <a:t> as </a:t>
            </a:r>
            <a:r>
              <a:rPr lang="en-US" sz="2200" dirty="0" err="1"/>
              <a:t>ce</a:t>
            </a:r>
            <a:endParaRPr lang="en-US" sz="2200" dirty="0"/>
          </a:p>
          <a:p>
            <a:pPr marL="0" indent="0">
              <a:buNone/>
            </a:pPr>
            <a:r>
              <a:rPr lang="en-US" sz="2200" dirty="0"/>
              <a:t>import pandas as </a:t>
            </a:r>
            <a:r>
              <a:rPr lang="en-US" sz="2200" dirty="0" err="1"/>
              <a:t>pd</a:t>
            </a:r>
            <a:endParaRPr lang="en-US" sz="2200" dirty="0"/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 err="1"/>
              <a:t>df</a:t>
            </a:r>
            <a:r>
              <a:rPr lang="en-US" sz="2200" dirty="0"/>
              <a:t> = </a:t>
            </a:r>
            <a:r>
              <a:rPr lang="en-US" sz="2200" dirty="0" err="1"/>
              <a:t>pd.DataFrame</a:t>
            </a:r>
            <a:r>
              <a:rPr lang="en-US" sz="2200" dirty="0"/>
              <a:t>({'City': ['Delhi', 'Mumbai', 'Kolkata']})</a:t>
            </a:r>
          </a:p>
          <a:p>
            <a:pPr marL="0" indent="0">
              <a:buNone/>
            </a:pPr>
            <a:r>
              <a:rPr lang="en-US" sz="2200" dirty="0"/>
              <a:t>encoder = </a:t>
            </a:r>
            <a:r>
              <a:rPr lang="en-US" sz="2200" dirty="0" err="1"/>
              <a:t>ce.BinaryEncoder</a:t>
            </a:r>
            <a:r>
              <a:rPr lang="en-US" sz="2200" dirty="0"/>
              <a:t>(cols=['City'])</a:t>
            </a:r>
          </a:p>
          <a:p>
            <a:pPr marL="0" indent="0">
              <a:buNone/>
            </a:pPr>
            <a:r>
              <a:rPr lang="en-US" sz="2200" dirty="0"/>
              <a:t>encoded = </a:t>
            </a:r>
            <a:r>
              <a:rPr lang="en-US" sz="2200" dirty="0" err="1"/>
              <a:t>encoder.fit_transform</a:t>
            </a:r>
            <a:r>
              <a:rPr lang="en-US" sz="2200" dirty="0"/>
              <a:t>(</a:t>
            </a:r>
            <a:r>
              <a:rPr lang="en-US" sz="2200" dirty="0" err="1"/>
              <a:t>df</a:t>
            </a:r>
            <a:r>
              <a:rPr lang="en-US" sz="2200" dirty="0"/>
              <a:t>)</a:t>
            </a:r>
          </a:p>
          <a:p>
            <a:pPr marL="0" indent="0">
              <a:buNone/>
            </a:pPr>
            <a:r>
              <a:rPr lang="en-US" sz="2200" dirty="0"/>
              <a:t>print(encoded)</a:t>
            </a:r>
          </a:p>
          <a:p>
            <a:pPr marL="0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153527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Methods of Data Encoding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E. </a:t>
            </a:r>
            <a:r>
              <a:rPr lang="en-US" b="1" dirty="0"/>
              <a:t>Target </a:t>
            </a:r>
            <a:r>
              <a:rPr lang="en-US" b="1" dirty="0" smtClean="0"/>
              <a:t>Encoding</a:t>
            </a:r>
            <a:endParaRPr lang="en-US" b="1" dirty="0"/>
          </a:p>
          <a:p>
            <a:r>
              <a:rPr lang="en-US" sz="2800" dirty="0"/>
              <a:t>Replaces a category with the </a:t>
            </a:r>
            <a:r>
              <a:rPr lang="en-US" sz="2800" b="1" dirty="0"/>
              <a:t>mean of the target variable</a:t>
            </a:r>
            <a:r>
              <a:rPr lang="en-US" sz="2800" dirty="0"/>
              <a:t> for that category.</a:t>
            </a:r>
          </a:p>
          <a:p>
            <a:r>
              <a:rPr lang="en-US" sz="2800" dirty="0"/>
              <a:t>Useful in </a:t>
            </a:r>
            <a:r>
              <a:rPr lang="en-US" sz="2800" b="1" dirty="0"/>
              <a:t>supervised learning</a:t>
            </a:r>
            <a:r>
              <a:rPr lang="en-US" sz="2800" dirty="0"/>
              <a:t>.</a:t>
            </a:r>
          </a:p>
          <a:p>
            <a:r>
              <a:rPr lang="en-US" sz="2800" b="1" dirty="0" smtClean="0"/>
              <a:t>Example:</a:t>
            </a:r>
          </a:p>
          <a:p>
            <a:endParaRPr lang="en-US" sz="28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5406013"/>
              </p:ext>
            </p:extLst>
          </p:nvPr>
        </p:nvGraphicFramePr>
        <p:xfrm>
          <a:off x="762000" y="4419600"/>
          <a:ext cx="4876800" cy="146304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286000"/>
                <a:gridCol w="2590800"/>
              </a:tblGrid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City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Avg_House_Price</a:t>
                      </a:r>
                      <a:endParaRPr lang="en-US" b="1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Delhi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10.5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Mumbai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12.0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Kolkata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8.5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5747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Methods of Data Encoding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Target Encoding in Python:</a:t>
            </a:r>
          </a:p>
          <a:p>
            <a:pPr marL="0" indent="0">
              <a:buNone/>
            </a:pPr>
            <a:endParaRPr lang="en-US" sz="2200" dirty="0" smtClean="0"/>
          </a:p>
          <a:p>
            <a:pPr marL="0" indent="0">
              <a:buNone/>
            </a:pPr>
            <a:r>
              <a:rPr lang="en-US" sz="2200" dirty="0" smtClean="0"/>
              <a:t>!</a:t>
            </a:r>
            <a:r>
              <a:rPr lang="en-US" sz="2200" dirty="0"/>
              <a:t>pip install </a:t>
            </a:r>
            <a:r>
              <a:rPr lang="en-US" sz="2200" dirty="0" err="1"/>
              <a:t>category_encoders</a:t>
            </a:r>
            <a:endParaRPr lang="en-US" sz="2200" dirty="0"/>
          </a:p>
          <a:p>
            <a:pPr marL="0" indent="0">
              <a:buNone/>
            </a:pPr>
            <a:r>
              <a:rPr lang="en-US" sz="2200" dirty="0"/>
              <a:t>import </a:t>
            </a:r>
            <a:r>
              <a:rPr lang="en-US" sz="2200" dirty="0" err="1"/>
              <a:t>category_encoders</a:t>
            </a:r>
            <a:r>
              <a:rPr lang="en-US" sz="2200" dirty="0"/>
              <a:t> as </a:t>
            </a:r>
            <a:r>
              <a:rPr lang="en-US" sz="2200" dirty="0" err="1"/>
              <a:t>ce</a:t>
            </a:r>
            <a:endParaRPr lang="en-US" sz="2200" dirty="0"/>
          </a:p>
          <a:p>
            <a:pPr marL="0" indent="0">
              <a:buNone/>
            </a:pPr>
            <a:r>
              <a:rPr lang="en-US" sz="2200" dirty="0"/>
              <a:t>import pandas as </a:t>
            </a:r>
            <a:r>
              <a:rPr lang="en-US" sz="2200" dirty="0" err="1"/>
              <a:t>pd</a:t>
            </a:r>
            <a:endParaRPr lang="en-US" sz="2200" dirty="0"/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/>
              <a:t># Dataset</a:t>
            </a:r>
          </a:p>
          <a:p>
            <a:pPr marL="0" indent="0">
              <a:buNone/>
            </a:pPr>
            <a:r>
              <a:rPr lang="en-US" sz="2200" dirty="0" err="1"/>
              <a:t>df</a:t>
            </a:r>
            <a:r>
              <a:rPr lang="en-US" sz="2200" dirty="0"/>
              <a:t> = </a:t>
            </a:r>
            <a:r>
              <a:rPr lang="en-US" sz="2200" dirty="0" err="1"/>
              <a:t>pd.DataFrame</a:t>
            </a:r>
            <a:r>
              <a:rPr lang="en-US" sz="2200" dirty="0"/>
              <a:t>({</a:t>
            </a:r>
          </a:p>
          <a:p>
            <a:pPr marL="0" indent="0">
              <a:buNone/>
            </a:pPr>
            <a:r>
              <a:rPr lang="en-US" sz="2200" dirty="0"/>
              <a:t>    'City': ['Delhi', 'Mumbai', 'Delhi', 'Kolkata', 'Mumbai'],</a:t>
            </a:r>
          </a:p>
          <a:p>
            <a:pPr marL="0" indent="0">
              <a:buNone/>
            </a:pPr>
            <a:r>
              <a:rPr lang="en-US" sz="2200" dirty="0"/>
              <a:t>    '</a:t>
            </a:r>
            <a:r>
              <a:rPr lang="en-US" sz="2200" dirty="0" err="1"/>
              <a:t>House_Price</a:t>
            </a:r>
            <a:r>
              <a:rPr lang="en-US" sz="2200" dirty="0"/>
              <a:t>': [10.5, 12.0, 11.0, 8.0, 13.0]</a:t>
            </a:r>
          </a:p>
          <a:p>
            <a:pPr marL="0" indent="0">
              <a:buNone/>
            </a:pPr>
            <a:r>
              <a:rPr lang="en-US" sz="2200" dirty="0"/>
              <a:t>})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/>
              <a:t># Apply Target Encoder</a:t>
            </a:r>
          </a:p>
          <a:p>
            <a:pPr marL="0" indent="0">
              <a:buNone/>
            </a:pPr>
            <a:r>
              <a:rPr lang="en-US" sz="2200" dirty="0"/>
              <a:t>encoder = </a:t>
            </a:r>
            <a:r>
              <a:rPr lang="en-US" sz="2200" dirty="0" err="1"/>
              <a:t>ce.TargetEncoder</a:t>
            </a:r>
            <a:r>
              <a:rPr lang="en-US" sz="2200" dirty="0"/>
              <a:t>(cols=['City'])</a:t>
            </a:r>
          </a:p>
          <a:p>
            <a:pPr marL="0" indent="0">
              <a:buNone/>
            </a:pPr>
            <a:r>
              <a:rPr lang="en-US" sz="2200" dirty="0" err="1"/>
              <a:t>df</a:t>
            </a:r>
            <a:r>
              <a:rPr lang="en-US" sz="2200" dirty="0"/>
              <a:t>['</a:t>
            </a:r>
            <a:r>
              <a:rPr lang="en-US" sz="2200" dirty="0" err="1"/>
              <a:t>City_Encoded</a:t>
            </a:r>
            <a:r>
              <a:rPr lang="en-US" sz="2200" dirty="0"/>
              <a:t>'] = </a:t>
            </a:r>
            <a:r>
              <a:rPr lang="en-US" sz="2200" dirty="0" err="1"/>
              <a:t>encoder.fit_transform</a:t>
            </a:r>
            <a:r>
              <a:rPr lang="en-US" sz="2200" dirty="0"/>
              <a:t>(</a:t>
            </a:r>
            <a:r>
              <a:rPr lang="en-US" sz="2200" dirty="0" err="1"/>
              <a:t>df</a:t>
            </a:r>
            <a:r>
              <a:rPr lang="en-US" sz="2200" dirty="0"/>
              <a:t>['City'], </a:t>
            </a:r>
            <a:r>
              <a:rPr lang="en-US" sz="2200" dirty="0" err="1"/>
              <a:t>df</a:t>
            </a:r>
            <a:r>
              <a:rPr lang="en-US" sz="2200" dirty="0"/>
              <a:t>['</a:t>
            </a:r>
            <a:r>
              <a:rPr lang="en-US" sz="2200" dirty="0" err="1"/>
              <a:t>House_Price</a:t>
            </a:r>
            <a:r>
              <a:rPr lang="en-US" sz="2200" dirty="0"/>
              <a:t>'])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/>
              <a:t>print(</a:t>
            </a:r>
            <a:r>
              <a:rPr lang="en-US" sz="2200" dirty="0" err="1"/>
              <a:t>df</a:t>
            </a:r>
            <a:r>
              <a:rPr lang="en-US" sz="2200" dirty="0"/>
              <a:t>)</a:t>
            </a:r>
          </a:p>
          <a:p>
            <a:pPr marL="0" indent="0">
              <a:buNone/>
            </a:pPr>
            <a:endParaRPr lang="en-US" sz="2200" dirty="0" smtClean="0"/>
          </a:p>
          <a:p>
            <a:pPr marL="0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784020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</TotalTime>
  <Words>559</Words>
  <Application>Microsoft Office PowerPoint</Application>
  <PresentationFormat>On-screen Show (4:3)</PresentationFormat>
  <Paragraphs>146</Paragraphs>
  <Slides>15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TT-Python-501</vt:lpstr>
      <vt:lpstr>Encoding Data in Machine Learning</vt:lpstr>
      <vt:lpstr>Example</vt:lpstr>
      <vt:lpstr>Why Encoding is Needed</vt:lpstr>
      <vt:lpstr>Types of Data Requiring Encoding</vt:lpstr>
      <vt:lpstr>Methods of Data Encoding</vt:lpstr>
      <vt:lpstr>Methods of Data Encoding</vt:lpstr>
      <vt:lpstr>Methods of Data Encoding</vt:lpstr>
      <vt:lpstr>Methods of Data Encoding</vt:lpstr>
      <vt:lpstr>Methods of Data Encoding</vt:lpstr>
      <vt:lpstr>Methods of Data Encoding</vt:lpstr>
      <vt:lpstr>Methods of Data Encoding</vt:lpstr>
      <vt:lpstr>Methods of Data Encoding</vt:lpstr>
      <vt:lpstr>Methods of Data Encoding</vt:lpstr>
      <vt:lpstr>Methods of Data Encoding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TT-Python-501</dc:title>
  <dc:creator>Dell</dc:creator>
  <cp:lastModifiedBy>Dell</cp:lastModifiedBy>
  <cp:revision>47</cp:revision>
  <dcterms:created xsi:type="dcterms:W3CDTF">2025-10-28T06:22:39Z</dcterms:created>
  <dcterms:modified xsi:type="dcterms:W3CDTF">2025-11-13T18:31:56Z</dcterms:modified>
</cp:coreProperties>
</file>